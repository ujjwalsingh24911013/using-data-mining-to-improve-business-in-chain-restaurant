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8"/>
  </p:notesMasterIdLst>
  <p:sldIdLst>
    <p:sldId id="262" r:id="rId2"/>
    <p:sldId id="280" r:id="rId3"/>
    <p:sldId id="269" r:id="rId4"/>
    <p:sldId id="271" r:id="rId5"/>
    <p:sldId id="279" r:id="rId6"/>
    <p:sldId id="274" r:id="rId7"/>
    <p:sldId id="275" r:id="rId8"/>
    <p:sldId id="282" r:id="rId9"/>
    <p:sldId id="276" r:id="rId10"/>
    <p:sldId id="278" r:id="rId11"/>
    <p:sldId id="268" r:id="rId12"/>
    <p:sldId id="284" r:id="rId13"/>
    <p:sldId id="273" r:id="rId14"/>
    <p:sldId id="285" r:id="rId15"/>
    <p:sldId id="281" r:id="rId16"/>
    <p:sldId id="266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9" y="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52529" cy="736270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5" y="-1281"/>
            <a:ext cx="755828" cy="73210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6150"/>
            <a:ext cx="9133727" cy="185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80653" y="1173984"/>
            <a:ext cx="8768137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4" y="1132413"/>
            <a:ext cx="4288604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4" y="1613043"/>
            <a:ext cx="4288604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5166"/>
            <a:ext cx="424212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13043"/>
            <a:ext cx="424212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63913" y="2971801"/>
            <a:ext cx="2452687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95524" y="3619535"/>
            <a:ext cx="2009553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ggle.com/api/v1/datasets/download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534760" y="1003980"/>
            <a:ext cx="8074480" cy="1062282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US" sz="3600" dirty="0"/>
              <a:t> Using Data Mining To Improve Business In Chain Restaurant</a:t>
            </a:r>
            <a:endParaRPr lang="en-IN" sz="3600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1110476" y="3539873"/>
            <a:ext cx="6923048" cy="1124357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Ujjwal Singh (24911013)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Ruchi Kumari (24911019),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Munugala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Charan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ej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(21114062)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Ganga Srujan (21114035)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Bandi Pavan Karthik (21114026)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1013731" y="3005630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project of Data Mining and Warehousing (CSL-515) by:</a:t>
            </a:r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1AC1-D02A-E183-6F25-AC188F1E6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utlines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B10DE-84C6-A9B4-66FA-1C3AA9A8E4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Sources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89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80653" y="3069772"/>
            <a:ext cx="8618114" cy="2898275"/>
          </a:xfrm>
        </p:spPr>
        <p:txBody>
          <a:bodyPr numCol="2"/>
          <a:lstStyle/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Techniques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endParaRPr lang="en-US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ts val="2143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endParaRPr lang="en-US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Data Mining Matters for Chains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Operational Efficiency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Business Growth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Customer Experience</a:t>
            </a:r>
            <a:endParaRPr lang="en-US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BD4AEE-4A23-5C2A-5B9B-2D1A97D47BDF}"/>
              </a:ext>
            </a:extLst>
          </p:cNvPr>
          <p:cNvSpPr txBox="1"/>
          <p:nvPr/>
        </p:nvSpPr>
        <p:spPr>
          <a:xfrm>
            <a:off x="681135" y="1147665"/>
            <a:ext cx="7875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“Application of Data mining to improve Chain Restaurant Business”</a:t>
            </a:r>
          </a:p>
          <a:p>
            <a:pPr algn="ctr"/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2E8FE-DDD3-9204-D215-5A8CD1FBDB56}"/>
              </a:ext>
            </a:extLst>
          </p:cNvPr>
          <p:cNvSpPr txBox="1"/>
          <p:nvPr/>
        </p:nvSpPr>
        <p:spPr>
          <a:xfrm>
            <a:off x="180653" y="2347994"/>
            <a:ext cx="8879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iscovering hidden patterns, trends, and insights from large datasets. [1]</a:t>
            </a:r>
          </a:p>
        </p:txBody>
      </p:sp>
    </p:spTree>
    <p:extLst>
      <p:ext uri="{BB962C8B-B14F-4D97-AF65-F5344CB8AC3E}">
        <p14:creationId xmlns:p14="http://schemas.microsoft.com/office/powerpoint/2010/main" val="278976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6775-18E9-F3E8-31E7-4CD71D1A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Sources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606DC-5FA8-F176-97CE-D475C376FF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ontains 9,551 restaurant records from 15 different countries with details on cuisines, pricing, table booking availability, online delivery, user ratings, and more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food business analysis, recommendation systems, price prediction, and sentiment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IN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mcdonalds</a:t>
            </a:r>
            <a: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-stores-data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Kaggle (</a:t>
            </a:r>
            <a:r>
              <a:rPr lang="en-I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 indent="-285750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global restaurant data (ratings, cuisines, locations, menu items).</a:t>
            </a:r>
          </a:p>
          <a:p>
            <a:pPr lvl="2" indent="-285750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analyze customer preferences, regional trends, and menu performance.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DeepSeek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45062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72D0E-2222-21D3-2263-C240BEF4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diagram of a data processing process">
            <a:extLst>
              <a:ext uri="{FF2B5EF4-FFF2-40B4-BE49-F238E27FC236}">
                <a16:creationId xmlns:a16="http://schemas.microsoft.com/office/drawing/2014/main" id="{45623AE7-1F1D-59EA-F1DE-772AF3F603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501" y="1053452"/>
            <a:ext cx="5410756" cy="5222875"/>
          </a:xfrm>
        </p:spPr>
      </p:pic>
    </p:spTree>
    <p:extLst>
      <p:ext uri="{BB962C8B-B14F-4D97-AF65-F5344CB8AC3E}">
        <p14:creationId xmlns:p14="http://schemas.microsoft.com/office/powerpoint/2010/main" val="3879436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86FFF-B0FF-EDDB-3F7B-DFA8CAFA5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i="0" dirty="0">
                <a:solidFill>
                  <a:srgbClr val="404040"/>
                </a:solidFill>
                <a:effectLst/>
                <a:latin typeface="DeepSeek-CJK-patch"/>
              </a:rPr>
            </a:br>
            <a:r>
              <a:rPr lang="en-IN" sz="36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&amp; Preprocessing</a:t>
            </a:r>
            <a:br>
              <a:rPr lang="en-IN" b="0" i="0" dirty="0">
                <a:solidFill>
                  <a:srgbClr val="404040"/>
                </a:solidFill>
                <a:effectLst/>
                <a:latin typeface="DeepSeek-CJK-patch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951B6-0529-1828-8A1F-E6004180AE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Downloaded via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KaggleHub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containing store locations with latitude and longitude.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Drops rows with missing coordinates to ensure valid geospatial data.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</a:p>
          <a:p>
            <a:pPr lvl="1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Ø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standardScalar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normalize latitude/longitude.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algorithms like DBSCAN/K-Means are sensitive to feature scales. Standardization ensures equal weighting.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88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0E09-E3D6-C9ED-CB6E-2B0F090D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86C12-8B2B-5408-CDBB-AEF29BA3EB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i="0" dirty="0">
                <a:solidFill>
                  <a:srgbClr val="404040"/>
                </a:solidFill>
                <a:effectLst/>
                <a:latin typeface="DeepSeek-CJK-patch"/>
              </a:rPr>
              <a:t> 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DBSCAN (Density-Based)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eps:0.3  (max distance between points), </a:t>
            </a:r>
            <a:r>
              <a:rPr lang="en-IN" sz="1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min_samples</a:t>
            </a:r>
            <a:r>
              <a:rPr lang="en-I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=10 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(min points to form a cluster).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Finds arbitrary-shaped clusters and Identifies noise points (label-1)</a:t>
            </a:r>
          </a:p>
          <a:p>
            <a:pPr lvl="1">
              <a:lnSpc>
                <a:spcPts val="2143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Shortcoming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careful tuning of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eps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/>
          </a:p>
        </p:txBody>
      </p:sp>
      <p:pic>
        <p:nvPicPr>
          <p:cNvPr id="5" name="Picture 4" descr="A map of different colored dots&#10;&#10;AI-generated content may be incorrect.">
            <a:extLst>
              <a:ext uri="{FF2B5EF4-FFF2-40B4-BE49-F238E27FC236}">
                <a16:creationId xmlns:a16="http://schemas.microsoft.com/office/drawing/2014/main" id="{657DD17C-639A-ACA0-B9E1-7DF036288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32" y="3250919"/>
            <a:ext cx="4686706" cy="314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12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61534-A27F-B2F9-8E19-E4687D07B4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ts val="2143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K-Means (Centroid-Based)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ts val="2143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n_clusters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=10(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predefined number of clusters).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ts val="2143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Fast and simple for spherical clusters</a:t>
            </a:r>
          </a:p>
          <a:p>
            <a:pPr lvl="1">
              <a:lnSpc>
                <a:spcPts val="2143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Shortcoming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Assumes clusters of similar size/density; requires specifying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n_clusters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 descr="A map of the world&#10;&#10;AI-generated content may be incorrect.">
            <a:extLst>
              <a:ext uri="{FF2B5EF4-FFF2-40B4-BE49-F238E27FC236}">
                <a16:creationId xmlns:a16="http://schemas.microsoft.com/office/drawing/2014/main" id="{1455B37A-5860-E831-2D60-0D07D3829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66" y="2844917"/>
            <a:ext cx="4744255" cy="3276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220A16-7F1C-22C7-7A3C-15651FD81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45" y="3911779"/>
            <a:ext cx="181000" cy="57158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FF4400F-D737-7375-25C9-C7B324B2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/>
          <a:p>
            <a:r>
              <a:rPr lang="en-IN" sz="36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143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87334-46E1-ACFD-1FDF-21BAE3EE0C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HDBSCAN (Hierarchical Density-Based)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min_cluster_size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=10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(smallest group to consider a cluster).</a:t>
            </a:r>
          </a:p>
          <a:p>
            <a:pPr lvl="1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Handles varying densities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utomatically determines cluster count.</a:t>
            </a:r>
          </a:p>
          <a:p>
            <a:pPr lvl="1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Shortcoming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Computationally heavier than DBSCAN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0F850-3415-A393-1B93-1E54945EA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003" y="4089428"/>
            <a:ext cx="181000" cy="571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18C0A6-6101-136A-E3F3-56607E17F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604" y="2924761"/>
            <a:ext cx="5093331" cy="347249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ED4A678-9CCC-D569-AAFD-54EC9625C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/>
          <a:p>
            <a:r>
              <a:rPr lang="en-IN" sz="36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345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805A3-EC92-D553-F70F-F64ACCADF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i="0" dirty="0">
                <a:solidFill>
                  <a:srgbClr val="404040"/>
                </a:solidFill>
                <a:effectLst/>
                <a:latin typeface="DeepSeek-CJK-patch"/>
              </a:rPr>
            </a:br>
            <a:r>
              <a:rPr lang="en-IN" sz="36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br>
              <a:rPr lang="en-IN" b="0" i="0" dirty="0">
                <a:solidFill>
                  <a:srgbClr val="404040"/>
                </a:solidFill>
                <a:effectLst/>
                <a:latin typeface="DeepSeek-CJK-patch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2602D-2E47-1396-CB9D-32217EAF4B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lnSpc>
                <a:spcPts val="2143"/>
              </a:lnSpc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ts val="2143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Measures cohesion/separation of clusters.</a:t>
            </a:r>
          </a:p>
          <a:p>
            <a:pPr lvl="1">
              <a:lnSpc>
                <a:spcPts val="2143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Range: [-1,1] (higher = better).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Davies-Bouldin Index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Measures average similarity between clusters</a:t>
            </a:r>
          </a:p>
          <a:p>
            <a:pPr lvl="1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values indicate better separation.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CD1B41-27C4-F506-3404-E385A51D3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212517"/>
              </p:ext>
            </p:extLst>
          </p:nvPr>
        </p:nvGraphicFramePr>
        <p:xfrm>
          <a:off x="709127" y="4170784"/>
          <a:ext cx="7595120" cy="1768248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898780">
                  <a:extLst>
                    <a:ext uri="{9D8B030D-6E8A-4147-A177-3AD203B41FA5}">
                      <a16:colId xmlns:a16="http://schemas.microsoft.com/office/drawing/2014/main" val="3180385808"/>
                    </a:ext>
                  </a:extLst>
                </a:gridCol>
                <a:gridCol w="1898780">
                  <a:extLst>
                    <a:ext uri="{9D8B030D-6E8A-4147-A177-3AD203B41FA5}">
                      <a16:colId xmlns:a16="http://schemas.microsoft.com/office/drawing/2014/main" val="3901736675"/>
                    </a:ext>
                  </a:extLst>
                </a:gridCol>
                <a:gridCol w="1898780">
                  <a:extLst>
                    <a:ext uri="{9D8B030D-6E8A-4147-A177-3AD203B41FA5}">
                      <a16:colId xmlns:a16="http://schemas.microsoft.com/office/drawing/2014/main" val="2867870083"/>
                    </a:ext>
                  </a:extLst>
                </a:gridCol>
                <a:gridCol w="1898780">
                  <a:extLst>
                    <a:ext uri="{9D8B030D-6E8A-4147-A177-3AD203B41FA5}">
                      <a16:colId xmlns:a16="http://schemas.microsoft.com/office/drawing/2014/main" val="2550741612"/>
                    </a:ext>
                  </a:extLst>
                </a:gridCol>
              </a:tblGrid>
              <a:tr h="436245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K-Means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DBSCAN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HDBSCAN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983810131"/>
                  </a:ext>
                </a:extLst>
              </a:tr>
              <a:tr h="63096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Silhouette Score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0.4891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0.2911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0.6636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474235113"/>
                  </a:ext>
                </a:extLst>
              </a:tr>
              <a:tr h="63096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Davies-Bouldin Index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0.7571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0.7350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0.3480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904631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749A4B-82D6-8B51-7B54-472EF421AD6C}"/>
              </a:ext>
            </a:extLst>
          </p:cNvPr>
          <p:cNvSpPr txBox="1"/>
          <p:nvPr/>
        </p:nvSpPr>
        <p:spPr>
          <a:xfrm>
            <a:off x="2323322" y="3613378"/>
            <a:ext cx="376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Study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484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376"/>
            <a:ext cx="8244889" cy="910610"/>
          </a:xfrm>
        </p:spPr>
        <p:txBody>
          <a:bodyPr/>
          <a:lstStyle/>
          <a:p>
            <a:r>
              <a:rPr lang="en-IN" sz="3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 Performance Metrics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Davies-Bouldin Index</a:t>
            </a:r>
          </a:p>
        </p:txBody>
      </p:sp>
      <p:pic>
        <p:nvPicPr>
          <p:cNvPr id="10" name="Content Placeholder 9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F2D6AD1B-52FA-F6D7-7B3F-26B8F8AF306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1997897"/>
            <a:ext cx="4241800" cy="3458353"/>
          </a:xfrm>
        </p:spPr>
      </p:pic>
      <p:pic>
        <p:nvPicPr>
          <p:cNvPr id="13" name="Content Placeholder 12" descr="A graph of a bar chart&#10;&#10;AI-generated content may be incorrect.">
            <a:extLst>
              <a:ext uri="{FF2B5EF4-FFF2-40B4-BE49-F238E27FC236}">
                <a16:creationId xmlns:a16="http://schemas.microsoft.com/office/drawing/2014/main" id="{1D11AA50-9A0B-33E5-4D87-BC2E4DB0FB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963932"/>
            <a:ext cx="4287838" cy="3458353"/>
          </a:xfrm>
        </p:spPr>
      </p:pic>
    </p:spTree>
    <p:extLst>
      <p:ext uri="{BB962C8B-B14F-4D97-AF65-F5344CB8AC3E}">
        <p14:creationId xmlns:p14="http://schemas.microsoft.com/office/powerpoint/2010/main" val="4197002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18DE-A409-2665-1954-809C6758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93D2A-9417-D34C-7308-8E56077B37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HDBSCAN Wins: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scores → Better-defined clusters → More reliable insights.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Benefits: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Reveals natural clusters and outliers.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over-saturation and expansion opportunities.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actionable insights for streamlining operations.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Informed, data-driven decisions that improve efficiency, revenue, and customer reach.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404040"/>
              </a:solidFill>
              <a:latin typeface="DeepSeek-CJK-patch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866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FAB7-811A-6348-FC1F-835AD2336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074F7-7348-3B92-4005-943B868D5C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via clustering reveals powerful geographic patterns in store locations. Using advanced clustering, chain restaurants can: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regional operations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market saturation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targeted expansion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location-specific campaigns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Clustering transforms static location data into dynamic maps of opportunity, empowering businesses to make smarter, faster, and more confident decisions.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926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40C8E-A256-91C3-8908-B2DB8A0E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B1668-A04B-3B56-1903-7CB1800863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more advanced clustering methods (e.g., Gaussian Mixture Models).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additional features like population density or sales data for richer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Temporal analysis of store openings.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73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9182-7000-3151-8163-BF5ED318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A3037-4BC9-2981-D879-16163085AD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[1] </a:t>
            </a:r>
            <a:r>
              <a:rPr lang="en-US" dirty="0" err="1"/>
              <a:t>Sclove</a:t>
            </a:r>
            <a:r>
              <a:rPr lang="en-US" dirty="0"/>
              <a:t>, Stanley. “Data Mining on Time Series: an Illustration Using Fast-Food Restaurant Franchise Data.” Computational Statistics &amp; Data Analysis, 2001.</a:t>
            </a:r>
          </a:p>
          <a:p>
            <a:pPr marL="0" indent="0">
              <a:buNone/>
            </a:pPr>
            <a:r>
              <a:rPr lang="en-US" dirty="0"/>
              <a:t>[2] Data Link: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www.kaggle.com/api/v1/datasets/download/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dirty="0" err="1"/>
              <a:t>Berkhin</a:t>
            </a:r>
            <a:r>
              <a:rPr lang="en-US" dirty="0"/>
              <a:t>, P., A survey of clustering data mining techniques, in Grouping multidimensional data: Recent advances in clustering. 2006, Springer. p. 25-71.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231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1980</TotalTime>
  <Words>709</Words>
  <Application>Microsoft Office PowerPoint</Application>
  <PresentationFormat>On-screen Show (4:3)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DeepSeek-CJK-patch</vt:lpstr>
      <vt:lpstr>fkGroteskNeue</vt:lpstr>
      <vt:lpstr>Franklin Gothic Demi</vt:lpstr>
      <vt:lpstr>Times New Roman</vt:lpstr>
      <vt:lpstr>Wingdings</vt:lpstr>
      <vt:lpstr>IITR_PPT_Template</vt:lpstr>
      <vt:lpstr> Using Data Mining To Improve Business In Chain Restaurant</vt:lpstr>
      <vt:lpstr>Outlines</vt:lpstr>
      <vt:lpstr>Introduction </vt:lpstr>
      <vt:lpstr>Data Collection &amp; Sources</vt:lpstr>
      <vt:lpstr>Methodology</vt:lpstr>
      <vt:lpstr> Data Loading &amp; Preprocessing </vt:lpstr>
      <vt:lpstr>Clustering Algorithms</vt:lpstr>
      <vt:lpstr>Clustering Algorithms</vt:lpstr>
      <vt:lpstr>Clustering Algorithms</vt:lpstr>
      <vt:lpstr> Evaluation Metrics </vt:lpstr>
      <vt:lpstr>Clustering Algorithm Performance Metrics</vt:lpstr>
      <vt:lpstr>Inferences</vt:lpstr>
      <vt:lpstr>Conclusion</vt:lpstr>
      <vt:lpstr>Future Scope</vt:lpstr>
      <vt:lpstr>References</vt:lpstr>
      <vt:lpstr>Thank You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RUCHI KUMARI (24911019)</cp:lastModifiedBy>
  <cp:revision>74</cp:revision>
  <dcterms:created xsi:type="dcterms:W3CDTF">2015-07-18T13:17:54Z</dcterms:created>
  <dcterms:modified xsi:type="dcterms:W3CDTF">2025-04-13T16:33:41Z</dcterms:modified>
  <cp:version>v1</cp:version>
</cp:coreProperties>
</file>